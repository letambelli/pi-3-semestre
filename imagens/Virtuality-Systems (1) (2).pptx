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37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4308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4" name="Text 2"/>
          <p:cNvSpPr/>
          <p:nvPr/>
        </p:nvSpPr>
        <p:spPr>
          <a:xfrm>
            <a:off x="2011465" y="1455382"/>
            <a:ext cx="7665839" cy="95821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7545"/>
              </a:lnSpc>
              <a:buNone/>
            </a:pPr>
            <a:r>
              <a:rPr lang="en-US" sz="6036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Virtuality Systems</a:t>
            </a:r>
            <a:endParaRPr lang="en-US" sz="6036" dirty="0"/>
          </a:p>
        </p:txBody>
      </p:sp>
      <p:sp>
        <p:nvSpPr>
          <p:cNvPr id="5" name="Text 3"/>
          <p:cNvSpPr/>
          <p:nvPr/>
        </p:nvSpPr>
        <p:spPr>
          <a:xfrm>
            <a:off x="1816588" y="4027349"/>
            <a:ext cx="2232065" cy="666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Alan Demetrio Gelsleuchter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2037993" y="4327327"/>
            <a:ext cx="2232065" cy="33325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624"/>
              </a:lnSpc>
              <a:buNone/>
            </a:pP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816588" y="5470229"/>
            <a:ext cx="2232065" cy="666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Gustavo Gonçalves de Moraes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2037993" y="5726906"/>
            <a:ext cx="2232065" cy="33325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624"/>
              </a:lnSpc>
              <a:buNone/>
            </a:pP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4534519" y="4027604"/>
            <a:ext cx="2232065" cy="33325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Henrique Barbosa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4819650" y="3994071"/>
            <a:ext cx="2232065" cy="33325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624"/>
              </a:lnSpc>
              <a:buNone/>
            </a:pP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4819650" y="4527233"/>
            <a:ext cx="2232065" cy="33325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624"/>
              </a:lnSpc>
              <a:buNone/>
            </a:pP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4512620" y="5468593"/>
            <a:ext cx="2232065" cy="33325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Leonardo Camargo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445240" y="3994071"/>
            <a:ext cx="2232065" cy="33325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Letícia Ruivo Tambelli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601307" y="3994071"/>
            <a:ext cx="2232065" cy="33325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624"/>
              </a:lnSpc>
              <a:buNone/>
            </a:pP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601307" y="4527233"/>
            <a:ext cx="2232065" cy="33325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624"/>
              </a:lnSpc>
              <a:buNone/>
            </a:pP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7445239" y="5427184"/>
            <a:ext cx="2232065" cy="33325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Lucas Belfort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10382964" y="4027604"/>
            <a:ext cx="2232065" cy="33325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Rodrigo Araújo Sousa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10382964" y="3994071"/>
            <a:ext cx="2232065" cy="666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
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10382964" y="5407725"/>
            <a:ext cx="2232065" cy="666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Stephanie </a:t>
            </a:r>
            <a:r>
              <a:rPr lang="en-US" sz="175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Cassamassimo</a:t>
            </a:r>
            <a:endParaRPr lang="en-US" sz="1750" dirty="0">
              <a:solidFill>
                <a:srgbClr val="3C3939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Farias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037993" y="2587228"/>
            <a:ext cx="10554414" cy="13887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Virtuality Systems e DirectRoute Transport</a:t>
            </a:r>
            <a:endParaRPr lang="en-US" sz="4374" dirty="0"/>
          </a:p>
        </p:txBody>
      </p:sp>
      <p:sp>
        <p:nvSpPr>
          <p:cNvPr id="5" name="Text 3"/>
          <p:cNvSpPr/>
          <p:nvPr/>
        </p:nvSpPr>
        <p:spPr>
          <a:xfrm>
            <a:off x="2037993" y="4309229"/>
            <a:ext cx="10554414" cy="1333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Virtuality Systems está empenhada em criar e implementar um sistema de agendamento altamente eficaz e inovador para a DirectRoute Transport, a fim de coordenar grandes fornecedores e atender melhor às suas necessidades. Este sistema visa aprimorar a eficiência e a sustentabilidade dos serviços de entrega da empresa.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037993" y="1938814"/>
            <a:ext cx="6662976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Sobre a Virtuality Systems</a:t>
            </a:r>
            <a:endParaRPr lang="en-US" sz="4374" dirty="0"/>
          </a:p>
        </p:txBody>
      </p:sp>
      <p:sp>
        <p:nvSpPr>
          <p:cNvPr id="5" name="Text 3"/>
          <p:cNvSpPr/>
          <p:nvPr/>
        </p:nvSpPr>
        <p:spPr>
          <a:xfrm>
            <a:off x="2037993" y="3188613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Fundação</a:t>
            </a:r>
            <a:endParaRPr lang="en-US" sz="2187" dirty="0"/>
          </a:p>
        </p:txBody>
      </p:sp>
      <p:sp>
        <p:nvSpPr>
          <p:cNvPr id="6" name="Text 4"/>
          <p:cNvSpPr/>
          <p:nvPr/>
        </p:nvSpPr>
        <p:spPr>
          <a:xfrm>
            <a:off x="2037993" y="3757970"/>
            <a:ext cx="3156347" cy="2332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Virtuality Systems foi fundada em 2024 com o objetivo de desenvolver sistemas para auxiliar a DirectRoute Transport a atender melhor as demandas de seus fornecedores e clientes.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743932" y="3188613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Objetivo</a:t>
            </a:r>
            <a:endParaRPr lang="en-US" sz="2187" dirty="0"/>
          </a:p>
        </p:txBody>
      </p:sp>
      <p:sp>
        <p:nvSpPr>
          <p:cNvPr id="8" name="Text 6"/>
          <p:cNvSpPr/>
          <p:nvPr/>
        </p:nvSpPr>
        <p:spPr>
          <a:xfrm>
            <a:off x="5743932" y="3757970"/>
            <a:ext cx="3156347" cy="199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principal objetivo da empresa é criar um sistema web de agendamento que ajude a DirectRoute Transport a cumprir suas entregas de forma mais eficiente.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9449872" y="3188613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Valores</a:t>
            </a:r>
            <a:endParaRPr lang="en-US" sz="2187" dirty="0"/>
          </a:p>
        </p:txBody>
      </p:sp>
      <p:sp>
        <p:nvSpPr>
          <p:cNvPr id="10" name="Text 8"/>
          <p:cNvSpPr/>
          <p:nvPr/>
        </p:nvSpPr>
        <p:spPr>
          <a:xfrm>
            <a:off x="9449872" y="3757970"/>
            <a:ext cx="3156347" cy="2332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Virtuality Systems está comprometida em desenvolver soluções tecnológicas que impulsionem a eficiência operacional e a sustentabilidade da DirectRoute Transport.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037993" y="1562576"/>
            <a:ext cx="6099691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DirectRoute Transport</a:t>
            </a:r>
            <a:endParaRPr lang="en-US" sz="4374" dirty="0"/>
          </a:p>
        </p:txBody>
      </p:sp>
      <p:sp>
        <p:nvSpPr>
          <p:cNvPr id="5" name="Shape 3"/>
          <p:cNvSpPr/>
          <p:nvPr/>
        </p:nvSpPr>
        <p:spPr>
          <a:xfrm>
            <a:off x="2037993" y="2840117"/>
            <a:ext cx="499943" cy="499943"/>
          </a:xfrm>
          <a:prstGeom prst="roundRect">
            <a:avLst>
              <a:gd name="adj" fmla="val 2000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16587" y="2881789"/>
            <a:ext cx="142637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281"/>
              </a:lnSpc>
              <a:buNone/>
            </a:pPr>
            <a:r>
              <a:rPr lang="en-US" sz="2624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624" dirty="0"/>
          </a:p>
        </p:txBody>
      </p:sp>
      <p:sp>
        <p:nvSpPr>
          <p:cNvPr id="7" name="Text 5"/>
          <p:cNvSpPr/>
          <p:nvPr/>
        </p:nvSpPr>
        <p:spPr>
          <a:xfrm>
            <a:off x="2760107" y="2840117"/>
            <a:ext cx="2647950" cy="6943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Empresa de Transporte</a:t>
            </a:r>
            <a:endParaRPr lang="en-US" sz="2187" dirty="0"/>
          </a:p>
        </p:txBody>
      </p:sp>
      <p:sp>
        <p:nvSpPr>
          <p:cNvPr id="8" name="Text 6"/>
          <p:cNvSpPr/>
          <p:nvPr/>
        </p:nvSpPr>
        <p:spPr>
          <a:xfrm>
            <a:off x="2760107" y="3667720"/>
            <a:ext cx="2647950" cy="1333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DirectRoute Transport é uma empresa de transporte que lida com grandes fornecedores.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630228" y="2840117"/>
            <a:ext cx="499943" cy="499943"/>
          </a:xfrm>
          <a:prstGeom prst="roundRect">
            <a:avLst>
              <a:gd name="adj" fmla="val 2000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93343" y="2881789"/>
            <a:ext cx="173712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281"/>
              </a:lnSpc>
              <a:buNone/>
            </a:pPr>
            <a:r>
              <a:rPr lang="en-US" sz="2624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624" dirty="0"/>
          </a:p>
        </p:txBody>
      </p:sp>
      <p:sp>
        <p:nvSpPr>
          <p:cNvPr id="11" name="Text 9"/>
          <p:cNvSpPr/>
          <p:nvPr/>
        </p:nvSpPr>
        <p:spPr>
          <a:xfrm>
            <a:off x="6352342" y="2840117"/>
            <a:ext cx="2647950" cy="6943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Necessidade de Informatização</a:t>
            </a:r>
            <a:endParaRPr lang="en-US" sz="2187" dirty="0"/>
          </a:p>
        </p:txBody>
      </p:sp>
      <p:sp>
        <p:nvSpPr>
          <p:cNvPr id="12" name="Text 10"/>
          <p:cNvSpPr/>
          <p:nvPr/>
        </p:nvSpPr>
        <p:spPr>
          <a:xfrm>
            <a:off x="6352342" y="3667720"/>
            <a:ext cx="2647950" cy="2666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empresa precisa informatizar seus processos para torná-los mais eficientes e alinhados aos princípios do ESG e aos Objetivos de Desenvolvimento Sustentável da ONU.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9222462" y="2840117"/>
            <a:ext cx="499943" cy="499943"/>
          </a:xfrm>
          <a:prstGeom prst="roundRect">
            <a:avLst>
              <a:gd name="adj" fmla="val 2000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83435" y="2881789"/>
            <a:ext cx="177998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281"/>
              </a:lnSpc>
              <a:buNone/>
            </a:pPr>
            <a:r>
              <a:rPr lang="en-US" sz="2624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624" dirty="0"/>
          </a:p>
        </p:txBody>
      </p:sp>
      <p:sp>
        <p:nvSpPr>
          <p:cNvPr id="15" name="Text 13"/>
          <p:cNvSpPr/>
          <p:nvPr/>
        </p:nvSpPr>
        <p:spPr>
          <a:xfrm>
            <a:off x="9944576" y="2840117"/>
            <a:ext cx="2647950" cy="6943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Benefícios do Sistema Web</a:t>
            </a:r>
            <a:endParaRPr lang="en-US" sz="2187" dirty="0"/>
          </a:p>
        </p:txBody>
      </p:sp>
      <p:sp>
        <p:nvSpPr>
          <p:cNvPr id="16" name="Text 14"/>
          <p:cNvSpPr/>
          <p:nvPr/>
        </p:nvSpPr>
        <p:spPr>
          <a:xfrm>
            <a:off x="9944576" y="3667720"/>
            <a:ext cx="2647950" cy="29993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Acreditamos que um sistema web pode agilizar funções, facilitar a comunicação e a colaboração, melhorar a transparência e a rastreabilidade, e aumentar a eficiência geral dos processos.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620447" y="544473"/>
            <a:ext cx="4941808" cy="61769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4864"/>
              </a:lnSpc>
              <a:buNone/>
            </a:pPr>
            <a:r>
              <a:rPr lang="en-US" sz="3891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Objetivos do sistema</a:t>
            </a:r>
            <a:endParaRPr lang="en-US" sz="3891" dirty="0"/>
          </a:p>
        </p:txBody>
      </p:sp>
      <p:sp>
        <p:nvSpPr>
          <p:cNvPr id="5" name="Shape 3"/>
          <p:cNvSpPr/>
          <p:nvPr/>
        </p:nvSpPr>
        <p:spPr>
          <a:xfrm>
            <a:off x="7295317" y="1557457"/>
            <a:ext cx="39529" cy="6127552"/>
          </a:xfrm>
          <a:prstGeom prst="roundRect">
            <a:avLst>
              <a:gd name="adj" fmla="val 225032"/>
            </a:avLst>
          </a:prstGeom>
          <a:solidFill>
            <a:srgbClr val="C7C7D0"/>
          </a:solidFill>
          <a:ln/>
        </p:spPr>
      </p:sp>
      <p:sp>
        <p:nvSpPr>
          <p:cNvPr id="6" name="Shape 4"/>
          <p:cNvSpPr/>
          <p:nvPr/>
        </p:nvSpPr>
        <p:spPr>
          <a:xfrm>
            <a:off x="6400979" y="1982272"/>
            <a:ext cx="691753" cy="39529"/>
          </a:xfrm>
          <a:prstGeom prst="roundRect">
            <a:avLst>
              <a:gd name="adj" fmla="val 225032"/>
            </a:avLst>
          </a:prstGeom>
          <a:solidFill>
            <a:srgbClr val="C7C7D0"/>
          </a:solidFill>
          <a:ln/>
        </p:spPr>
      </p:sp>
      <p:sp>
        <p:nvSpPr>
          <p:cNvPr id="7" name="Shape 5"/>
          <p:cNvSpPr/>
          <p:nvPr/>
        </p:nvSpPr>
        <p:spPr>
          <a:xfrm>
            <a:off x="7092732" y="1779746"/>
            <a:ext cx="444698" cy="444698"/>
          </a:xfrm>
          <a:prstGeom prst="roundRect">
            <a:avLst>
              <a:gd name="adj" fmla="val 20003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51561" y="1816775"/>
            <a:ext cx="126921" cy="37052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918"/>
              </a:lnSpc>
              <a:buNone/>
            </a:pPr>
            <a:r>
              <a:rPr lang="en-US" sz="2335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335" dirty="0"/>
          </a:p>
        </p:txBody>
      </p:sp>
      <p:sp>
        <p:nvSpPr>
          <p:cNvPr id="9" name="Text 7"/>
          <p:cNvSpPr/>
          <p:nvPr/>
        </p:nvSpPr>
        <p:spPr>
          <a:xfrm>
            <a:off x="3757017" y="1755100"/>
            <a:ext cx="2470904" cy="30872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r">
              <a:lnSpc>
                <a:spcPts val="2432"/>
              </a:lnSpc>
              <a:buNone/>
            </a:pPr>
            <a:r>
              <a:rPr lang="en-US" sz="1946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Otimizar recursos</a:t>
            </a:r>
            <a:endParaRPr lang="en-US" sz="1946" dirty="0"/>
          </a:p>
        </p:txBody>
      </p:sp>
      <p:sp>
        <p:nvSpPr>
          <p:cNvPr id="10" name="Shape 8"/>
          <p:cNvSpPr/>
          <p:nvPr/>
        </p:nvSpPr>
        <p:spPr>
          <a:xfrm>
            <a:off x="7537430" y="2970490"/>
            <a:ext cx="691753" cy="39529"/>
          </a:xfrm>
          <a:prstGeom prst="roundRect">
            <a:avLst>
              <a:gd name="adj" fmla="val 225032"/>
            </a:avLst>
          </a:prstGeom>
          <a:solidFill>
            <a:srgbClr val="C7C7D0"/>
          </a:solidFill>
          <a:ln/>
        </p:spPr>
      </p:sp>
      <p:sp>
        <p:nvSpPr>
          <p:cNvPr id="11" name="Shape 9"/>
          <p:cNvSpPr/>
          <p:nvPr/>
        </p:nvSpPr>
        <p:spPr>
          <a:xfrm>
            <a:off x="7092732" y="2767965"/>
            <a:ext cx="444698" cy="444698"/>
          </a:xfrm>
          <a:prstGeom prst="roundRect">
            <a:avLst>
              <a:gd name="adj" fmla="val 20003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37750" y="2804993"/>
            <a:ext cx="154543" cy="37052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918"/>
              </a:lnSpc>
              <a:buNone/>
            </a:pPr>
            <a:r>
              <a:rPr lang="en-US" sz="2335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335" dirty="0"/>
          </a:p>
        </p:txBody>
      </p:sp>
      <p:sp>
        <p:nvSpPr>
          <p:cNvPr id="13" name="Text 11"/>
          <p:cNvSpPr/>
          <p:nvPr/>
        </p:nvSpPr>
        <p:spPr>
          <a:xfrm>
            <a:off x="8402241" y="2743319"/>
            <a:ext cx="2470904" cy="30872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432"/>
              </a:lnSpc>
              <a:buNone/>
            </a:pPr>
            <a:r>
              <a:rPr lang="en-US" sz="1946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Agilizar processos</a:t>
            </a:r>
            <a:endParaRPr lang="en-US" sz="1946" dirty="0"/>
          </a:p>
        </p:txBody>
      </p:sp>
      <p:sp>
        <p:nvSpPr>
          <p:cNvPr id="14" name="Shape 12"/>
          <p:cNvSpPr/>
          <p:nvPr/>
        </p:nvSpPr>
        <p:spPr>
          <a:xfrm>
            <a:off x="6400979" y="3859887"/>
            <a:ext cx="691753" cy="39529"/>
          </a:xfrm>
          <a:prstGeom prst="roundRect">
            <a:avLst>
              <a:gd name="adj" fmla="val 225032"/>
            </a:avLst>
          </a:prstGeom>
          <a:solidFill>
            <a:srgbClr val="C7C7D0"/>
          </a:solidFill>
          <a:ln/>
        </p:spPr>
      </p:sp>
      <p:sp>
        <p:nvSpPr>
          <p:cNvPr id="15" name="Shape 13"/>
          <p:cNvSpPr/>
          <p:nvPr/>
        </p:nvSpPr>
        <p:spPr>
          <a:xfrm>
            <a:off x="7092732" y="3657362"/>
            <a:ext cx="444698" cy="444698"/>
          </a:xfrm>
          <a:prstGeom prst="roundRect">
            <a:avLst>
              <a:gd name="adj" fmla="val 20003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35845" y="3694390"/>
            <a:ext cx="158353" cy="37052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918"/>
              </a:lnSpc>
              <a:buNone/>
            </a:pPr>
            <a:r>
              <a:rPr lang="en-US" sz="2335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335" dirty="0"/>
          </a:p>
        </p:txBody>
      </p:sp>
      <p:sp>
        <p:nvSpPr>
          <p:cNvPr id="17" name="Text 15"/>
          <p:cNvSpPr/>
          <p:nvPr/>
        </p:nvSpPr>
        <p:spPr>
          <a:xfrm>
            <a:off x="2620447" y="3632716"/>
            <a:ext cx="3607475" cy="6174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ts val="2432"/>
              </a:lnSpc>
              <a:buNone/>
            </a:pPr>
            <a:r>
              <a:rPr lang="en-US" sz="1946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Melhorar a experiência do cliente</a:t>
            </a:r>
            <a:endParaRPr lang="en-US" sz="1946" dirty="0"/>
          </a:p>
        </p:txBody>
      </p:sp>
      <p:sp>
        <p:nvSpPr>
          <p:cNvPr id="18" name="Shape 16"/>
          <p:cNvSpPr/>
          <p:nvPr/>
        </p:nvSpPr>
        <p:spPr>
          <a:xfrm>
            <a:off x="7537430" y="4749403"/>
            <a:ext cx="691753" cy="39529"/>
          </a:xfrm>
          <a:prstGeom prst="roundRect">
            <a:avLst>
              <a:gd name="adj" fmla="val 225032"/>
            </a:avLst>
          </a:prstGeom>
          <a:solidFill>
            <a:srgbClr val="C7C7D0"/>
          </a:solidFill>
          <a:ln/>
        </p:spPr>
      </p:sp>
      <p:sp>
        <p:nvSpPr>
          <p:cNvPr id="19" name="Shape 17"/>
          <p:cNvSpPr/>
          <p:nvPr/>
        </p:nvSpPr>
        <p:spPr>
          <a:xfrm>
            <a:off x="7092732" y="4546878"/>
            <a:ext cx="444698" cy="444698"/>
          </a:xfrm>
          <a:prstGeom prst="roundRect">
            <a:avLst>
              <a:gd name="adj" fmla="val 20003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34059" y="4583906"/>
            <a:ext cx="161925" cy="37052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918"/>
              </a:lnSpc>
              <a:buNone/>
            </a:pPr>
            <a:r>
              <a:rPr lang="en-US" sz="2335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2335" dirty="0"/>
          </a:p>
        </p:txBody>
      </p:sp>
      <p:sp>
        <p:nvSpPr>
          <p:cNvPr id="21" name="Text 19"/>
          <p:cNvSpPr/>
          <p:nvPr/>
        </p:nvSpPr>
        <p:spPr>
          <a:xfrm>
            <a:off x="8402241" y="4522232"/>
            <a:ext cx="3607594" cy="6174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432"/>
              </a:lnSpc>
              <a:buNone/>
            </a:pPr>
            <a:r>
              <a:rPr lang="en-US" sz="1946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Aumentar a eficiência operacional</a:t>
            </a:r>
            <a:endParaRPr lang="en-US" sz="1946" dirty="0"/>
          </a:p>
        </p:txBody>
      </p:sp>
      <p:sp>
        <p:nvSpPr>
          <p:cNvPr id="22" name="Shape 20"/>
          <p:cNvSpPr/>
          <p:nvPr/>
        </p:nvSpPr>
        <p:spPr>
          <a:xfrm>
            <a:off x="6400979" y="5638919"/>
            <a:ext cx="691753" cy="39529"/>
          </a:xfrm>
          <a:prstGeom prst="roundRect">
            <a:avLst>
              <a:gd name="adj" fmla="val 225032"/>
            </a:avLst>
          </a:prstGeom>
          <a:solidFill>
            <a:srgbClr val="C7C7D0"/>
          </a:solidFill>
          <a:ln/>
        </p:spPr>
      </p:sp>
      <p:sp>
        <p:nvSpPr>
          <p:cNvPr id="23" name="Shape 21"/>
          <p:cNvSpPr/>
          <p:nvPr/>
        </p:nvSpPr>
        <p:spPr>
          <a:xfrm>
            <a:off x="7092732" y="5436394"/>
            <a:ext cx="444698" cy="444698"/>
          </a:xfrm>
          <a:prstGeom prst="roundRect">
            <a:avLst>
              <a:gd name="adj" fmla="val 20003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34178" y="5473422"/>
            <a:ext cx="161687" cy="37052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918"/>
              </a:lnSpc>
              <a:buNone/>
            </a:pPr>
            <a:r>
              <a:rPr lang="en-US" sz="2335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</a:t>
            </a:r>
            <a:endParaRPr lang="en-US" sz="2335" dirty="0"/>
          </a:p>
        </p:txBody>
      </p:sp>
      <p:sp>
        <p:nvSpPr>
          <p:cNvPr id="25" name="Text 23"/>
          <p:cNvSpPr/>
          <p:nvPr/>
        </p:nvSpPr>
        <p:spPr>
          <a:xfrm>
            <a:off x="2620447" y="5411748"/>
            <a:ext cx="3607475" cy="6174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ts val="2432"/>
              </a:lnSpc>
              <a:buNone/>
            </a:pPr>
            <a:r>
              <a:rPr lang="en-US" sz="1946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Aprimorar a precisão e confiabilidade</a:t>
            </a:r>
            <a:endParaRPr lang="en-US" sz="1946" dirty="0"/>
          </a:p>
        </p:txBody>
      </p:sp>
      <p:sp>
        <p:nvSpPr>
          <p:cNvPr id="26" name="Shape 24"/>
          <p:cNvSpPr/>
          <p:nvPr/>
        </p:nvSpPr>
        <p:spPr>
          <a:xfrm>
            <a:off x="7537430" y="6528435"/>
            <a:ext cx="691753" cy="39529"/>
          </a:xfrm>
          <a:prstGeom prst="roundRect">
            <a:avLst>
              <a:gd name="adj" fmla="val 225032"/>
            </a:avLst>
          </a:prstGeom>
          <a:solidFill>
            <a:srgbClr val="C7C7D0"/>
          </a:solidFill>
          <a:ln/>
        </p:spPr>
      </p:sp>
      <p:sp>
        <p:nvSpPr>
          <p:cNvPr id="27" name="Shape 25"/>
          <p:cNvSpPr/>
          <p:nvPr/>
        </p:nvSpPr>
        <p:spPr>
          <a:xfrm>
            <a:off x="7092732" y="6325910"/>
            <a:ext cx="444698" cy="444698"/>
          </a:xfrm>
          <a:prstGeom prst="roundRect">
            <a:avLst>
              <a:gd name="adj" fmla="val 20003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25605" y="6362938"/>
            <a:ext cx="178832" cy="37052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918"/>
              </a:lnSpc>
              <a:buNone/>
            </a:pPr>
            <a:r>
              <a:rPr lang="en-US" sz="2335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</a:t>
            </a:r>
            <a:endParaRPr lang="en-US" sz="2335" dirty="0"/>
          </a:p>
        </p:txBody>
      </p:sp>
      <p:sp>
        <p:nvSpPr>
          <p:cNvPr id="29" name="Text 27"/>
          <p:cNvSpPr/>
          <p:nvPr/>
        </p:nvSpPr>
        <p:spPr>
          <a:xfrm>
            <a:off x="8402241" y="6301264"/>
            <a:ext cx="3607594" cy="6174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432"/>
              </a:lnSpc>
              <a:buNone/>
            </a:pPr>
            <a:r>
              <a:rPr lang="en-US" sz="1946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Auxiliar na tomada de decisões informadas</a:t>
            </a:r>
            <a:endParaRPr lang="en-US" sz="1946" dirty="0"/>
          </a:p>
        </p:txBody>
      </p:sp>
      <p:sp>
        <p:nvSpPr>
          <p:cNvPr id="30" name="Text 28"/>
          <p:cNvSpPr/>
          <p:nvPr/>
        </p:nvSpPr>
        <p:spPr>
          <a:xfrm>
            <a:off x="8402241" y="7037308"/>
            <a:ext cx="3607594" cy="29646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335"/>
              </a:lnSpc>
              <a:buNone/>
            </a:pPr>
            <a:endParaRPr lang="en-US" sz="1556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037993" y="1327904"/>
            <a:ext cx="5648682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Requisitos do Sistema</a:t>
            </a:r>
            <a:endParaRPr lang="en-US" sz="4374" dirty="0"/>
          </a:p>
        </p:txBody>
      </p:sp>
      <p:sp>
        <p:nvSpPr>
          <p:cNvPr id="5" name="Shape 3"/>
          <p:cNvSpPr/>
          <p:nvPr/>
        </p:nvSpPr>
        <p:spPr>
          <a:xfrm>
            <a:off x="2037993" y="2466618"/>
            <a:ext cx="5166122" cy="1939766"/>
          </a:xfrm>
          <a:prstGeom prst="roundRect">
            <a:avLst>
              <a:gd name="adj" fmla="val 5155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67783" y="2696408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Escalabilidade</a:t>
            </a:r>
            <a:endParaRPr lang="en-US" sz="2187" dirty="0"/>
          </a:p>
        </p:txBody>
      </p:sp>
      <p:sp>
        <p:nvSpPr>
          <p:cNvPr id="7" name="Text 5"/>
          <p:cNvSpPr/>
          <p:nvPr/>
        </p:nvSpPr>
        <p:spPr>
          <a:xfrm>
            <a:off x="2267783" y="3176826"/>
            <a:ext cx="4706541" cy="666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Garantir que o sistema seja capaz e lidar com mais empresas além da directroute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6285" y="2466618"/>
            <a:ext cx="5166122" cy="1939766"/>
          </a:xfrm>
          <a:prstGeom prst="roundRect">
            <a:avLst>
              <a:gd name="adj" fmla="val 5155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56076" y="2696408"/>
            <a:ext cx="4036814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Suporte Técnico e Atendimento</a:t>
            </a:r>
            <a:endParaRPr lang="en-US" sz="2187" dirty="0"/>
          </a:p>
        </p:txBody>
      </p:sp>
      <p:sp>
        <p:nvSpPr>
          <p:cNvPr id="10" name="Text 8"/>
          <p:cNvSpPr/>
          <p:nvPr/>
        </p:nvSpPr>
        <p:spPr>
          <a:xfrm>
            <a:off x="7656076" y="3176826"/>
            <a:ext cx="4706541" cy="99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Estaremos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sempre </a:t>
            </a:r>
            <a:r>
              <a:rPr lang="en-US" sz="175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disponíveis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para </a:t>
            </a:r>
            <a:r>
              <a:rPr lang="en-US" sz="175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contato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75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75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casos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 </a:t>
            </a:r>
            <a:r>
              <a:rPr lang="en-US" sz="175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dúvida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/</a:t>
            </a:r>
            <a:r>
              <a:rPr lang="en-US" sz="175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transtornos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2037993" y="4628555"/>
            <a:ext cx="5166122" cy="2273022"/>
          </a:xfrm>
          <a:prstGeom prst="roundRect">
            <a:avLst>
              <a:gd name="adj" fmla="val 439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7783" y="4858345"/>
            <a:ext cx="3017282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Agendamento Eficiente</a:t>
            </a:r>
            <a:endParaRPr lang="en-US" sz="2187" dirty="0"/>
          </a:p>
        </p:txBody>
      </p:sp>
      <p:sp>
        <p:nvSpPr>
          <p:cNvPr id="13" name="Text 11"/>
          <p:cNvSpPr/>
          <p:nvPr/>
        </p:nvSpPr>
        <p:spPr>
          <a:xfrm>
            <a:off x="2267783" y="5338763"/>
            <a:ext cx="4706541" cy="1333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Nosso sistema tornará a realização e consulta de agendamentos mais simples, de modo que a vizualização de dados seja mais prática e economize o tempo dos usuários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7426285" y="4628555"/>
            <a:ext cx="5166122" cy="2273022"/>
          </a:xfrm>
          <a:prstGeom prst="roundRect">
            <a:avLst>
              <a:gd name="adj" fmla="val 439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56076" y="4858345"/>
            <a:ext cx="2949535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Experiência do Usuário</a:t>
            </a:r>
            <a:endParaRPr lang="en-US" sz="2187" dirty="0"/>
          </a:p>
        </p:txBody>
      </p:sp>
      <p:sp>
        <p:nvSpPr>
          <p:cNvPr id="16" name="Text 14"/>
          <p:cNvSpPr/>
          <p:nvPr/>
        </p:nvSpPr>
        <p:spPr>
          <a:xfrm>
            <a:off x="7656076" y="5338763"/>
            <a:ext cx="4706541" cy="666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24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Criar uma interface intuitiva, consistente e capaz de sanar as necessidades dos usuários.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371</Words>
  <Application>Microsoft Office PowerPoint</Application>
  <PresentationFormat>Personalizar</PresentationFormat>
  <Paragraphs>58</Paragraphs>
  <Slides>6</Slides>
  <Notes>6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0" baseType="lpstr">
      <vt:lpstr>Arial</vt:lpstr>
      <vt:lpstr>Raleway</vt:lpstr>
      <vt:lpstr>Roboto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Gabriel Pires</cp:lastModifiedBy>
  <cp:revision>5</cp:revision>
  <dcterms:created xsi:type="dcterms:W3CDTF">2024-06-08T05:46:04Z</dcterms:created>
  <dcterms:modified xsi:type="dcterms:W3CDTF">2024-06-08T06:03:02Z</dcterms:modified>
</cp:coreProperties>
</file>