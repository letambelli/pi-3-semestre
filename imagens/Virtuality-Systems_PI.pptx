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2026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2323386"/>
            <a:ext cx="10554414" cy="1916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7545"/>
              </a:lnSpc>
              <a:buNone/>
            </a:pPr>
            <a:r>
              <a:rPr lang="en-US" sz="6036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Virtuality Systems e DirectRoute Transport</a:t>
            </a:r>
            <a:endParaRPr lang="en-US" sz="6036" dirty="0"/>
          </a:p>
        </p:txBody>
      </p:sp>
      <p:sp>
        <p:nvSpPr>
          <p:cNvPr id="5" name="Text 3"/>
          <p:cNvSpPr/>
          <p:nvPr/>
        </p:nvSpPr>
        <p:spPr>
          <a:xfrm>
            <a:off x="2037993" y="4573072"/>
            <a:ext cx="10554414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Virtuality Systems está empenhada em criar e implementar um sistema de agendamento altamente eficaz e inovador para a DirectRoute Transport, a fim de coordenar grandes fornecedores e atender melhor às suas necessidades. Este sistema visa aprimorar a eficiência e a sustentabilidade dos serviços de entrega da empresa.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938814"/>
            <a:ext cx="6662976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 a Virtuality Systems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318861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Fundação</a:t>
            </a:r>
            <a:endParaRPr lang="en-US" sz="2187" dirty="0"/>
          </a:p>
        </p:txBody>
      </p:sp>
      <p:sp>
        <p:nvSpPr>
          <p:cNvPr id="6" name="Text 4"/>
          <p:cNvSpPr/>
          <p:nvPr/>
        </p:nvSpPr>
        <p:spPr>
          <a:xfrm>
            <a:off x="2037993" y="3757970"/>
            <a:ext cx="3156347" cy="2332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Virtuality Systems foi fundada em 2024 com o objetivo de desenvolver sistemas para auxiliar a DirectRoute Transport a atender melhor as demandas de seus fornecedores e clientes.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743932" y="318861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Objetivo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5743932" y="3757970"/>
            <a:ext cx="3156347" cy="199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principal objetivo da empresa é criar um sistema web de agendamento que ajude a DirectRoute Transport a cumprir suas entregas de forma mais eficiente.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449872" y="318861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Valores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9449872" y="3757970"/>
            <a:ext cx="3156347" cy="2332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Virtuality Systems está comprometida em desenvolver soluções tecnológicas que impulsionem a eficiência operacional e a sustentabilidade da DirectRoute Transport.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562576"/>
            <a:ext cx="6099691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DirectRoute Transport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2840117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16587" y="2881789"/>
            <a:ext cx="142637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24" dirty="0"/>
          </a:p>
        </p:txBody>
      </p:sp>
      <p:sp>
        <p:nvSpPr>
          <p:cNvPr id="7" name="Text 5"/>
          <p:cNvSpPr/>
          <p:nvPr/>
        </p:nvSpPr>
        <p:spPr>
          <a:xfrm>
            <a:off x="2760107" y="2840117"/>
            <a:ext cx="264795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Empresa de Transporte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2760107" y="3667720"/>
            <a:ext cx="2647950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DirectRoute Transport é uma empresa de transporte que lida com grandes fornecedores.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630228" y="2840117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93343" y="2881789"/>
            <a:ext cx="17371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24" dirty="0"/>
          </a:p>
        </p:txBody>
      </p:sp>
      <p:sp>
        <p:nvSpPr>
          <p:cNvPr id="11" name="Text 9"/>
          <p:cNvSpPr/>
          <p:nvPr/>
        </p:nvSpPr>
        <p:spPr>
          <a:xfrm>
            <a:off x="6352342" y="2840117"/>
            <a:ext cx="264795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Necessidade de Informatização</a:t>
            </a:r>
            <a:endParaRPr lang="en-US" sz="2187" dirty="0"/>
          </a:p>
        </p:txBody>
      </p:sp>
      <p:sp>
        <p:nvSpPr>
          <p:cNvPr id="12" name="Text 10"/>
          <p:cNvSpPr/>
          <p:nvPr/>
        </p:nvSpPr>
        <p:spPr>
          <a:xfrm>
            <a:off x="6352342" y="3667720"/>
            <a:ext cx="2647950" cy="2666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empresa precisa informatizar seus processos para torná-los mais eficientes e alinhados aos princípios do ESG e aos Objetivos de Desenvolvimento Sustentável da ONU.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222462" y="2840117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83435" y="2881789"/>
            <a:ext cx="177998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24" dirty="0"/>
          </a:p>
        </p:txBody>
      </p:sp>
      <p:sp>
        <p:nvSpPr>
          <p:cNvPr id="15" name="Text 13"/>
          <p:cNvSpPr/>
          <p:nvPr/>
        </p:nvSpPr>
        <p:spPr>
          <a:xfrm>
            <a:off x="9944576" y="2840117"/>
            <a:ext cx="264795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Benefícios do Sistema Web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9944576" y="3667720"/>
            <a:ext cx="2647950" cy="29993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Acreditamos que um sistema web pode agilizar funções, facilitar a comunicação e a colaboração, melhorar a transparência e a rastreabilidade, e aumentar a eficiência geral dos processos.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898684"/>
            <a:ext cx="5648682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Requisitos do Sistema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4850725"/>
            <a:ext cx="10554414" cy="44410"/>
          </a:xfrm>
          <a:prstGeom prst="roundRect">
            <a:avLst>
              <a:gd name="adj" fmla="val 225151"/>
            </a:avLst>
          </a:prstGeom>
          <a:solidFill>
            <a:srgbClr val="C7C7D0"/>
          </a:solidFill>
          <a:ln/>
        </p:spPr>
      </p:sp>
      <p:sp>
        <p:nvSpPr>
          <p:cNvPr id="6" name="Shape 4"/>
          <p:cNvSpPr/>
          <p:nvPr/>
        </p:nvSpPr>
        <p:spPr>
          <a:xfrm>
            <a:off x="4598849" y="4073188"/>
            <a:ext cx="44410" cy="777597"/>
          </a:xfrm>
          <a:prstGeom prst="roundRect">
            <a:avLst>
              <a:gd name="adj" fmla="val 225151"/>
            </a:avLst>
          </a:prstGeom>
          <a:solidFill>
            <a:srgbClr val="C7C7D0"/>
          </a:solidFill>
          <a:ln/>
        </p:spPr>
      </p:sp>
      <p:sp>
        <p:nvSpPr>
          <p:cNvPr id="7" name="Shape 5"/>
          <p:cNvSpPr/>
          <p:nvPr/>
        </p:nvSpPr>
        <p:spPr>
          <a:xfrm>
            <a:off x="4371142" y="4600754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9735" y="4642425"/>
            <a:ext cx="142637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24" dirty="0"/>
          </a:p>
        </p:txBody>
      </p:sp>
      <p:sp>
        <p:nvSpPr>
          <p:cNvPr id="9" name="Text 7"/>
          <p:cNvSpPr/>
          <p:nvPr/>
        </p:nvSpPr>
        <p:spPr>
          <a:xfrm>
            <a:off x="3232309" y="237065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Escalabilidade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2260163" y="2851071"/>
            <a:ext cx="4721781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sistema deve lidar eficientemente com um grande volume de agendamentos, sem comprometer o desempenho.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292995" y="4850666"/>
            <a:ext cx="44410" cy="777597"/>
          </a:xfrm>
          <a:prstGeom prst="roundRect">
            <a:avLst>
              <a:gd name="adj" fmla="val 225151"/>
            </a:avLst>
          </a:prstGeom>
          <a:solidFill>
            <a:srgbClr val="C7C7D0"/>
          </a:solidFill>
          <a:ln/>
        </p:spPr>
      </p:sp>
      <p:sp>
        <p:nvSpPr>
          <p:cNvPr id="12" name="Shape 10"/>
          <p:cNvSpPr/>
          <p:nvPr/>
        </p:nvSpPr>
        <p:spPr>
          <a:xfrm>
            <a:off x="7065288" y="4600754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8403" y="4642425"/>
            <a:ext cx="17371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24" dirty="0"/>
          </a:p>
        </p:txBody>
      </p:sp>
      <p:sp>
        <p:nvSpPr>
          <p:cNvPr id="14" name="Text 12"/>
          <p:cNvSpPr/>
          <p:nvPr/>
        </p:nvSpPr>
        <p:spPr>
          <a:xfrm>
            <a:off x="5812036" y="5850612"/>
            <a:ext cx="3006209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Integração de Sistemas</a:t>
            </a:r>
            <a:endParaRPr lang="en-US" sz="2187" dirty="0"/>
          </a:p>
        </p:txBody>
      </p:sp>
      <p:sp>
        <p:nvSpPr>
          <p:cNvPr id="15" name="Text 13"/>
          <p:cNvSpPr/>
          <p:nvPr/>
        </p:nvSpPr>
        <p:spPr>
          <a:xfrm>
            <a:off x="4954310" y="6331029"/>
            <a:ext cx="4721781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sistema deve se integrar perfeitamente com outros sistemas internos da empresa, como CRM, ERP e sistemas de pagamento.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987141" y="4073188"/>
            <a:ext cx="44410" cy="777597"/>
          </a:xfrm>
          <a:prstGeom prst="roundRect">
            <a:avLst>
              <a:gd name="adj" fmla="val 225151"/>
            </a:avLst>
          </a:prstGeom>
          <a:solidFill>
            <a:srgbClr val="C7C7D0"/>
          </a:solidFill>
          <a:ln/>
        </p:spPr>
      </p:sp>
      <p:sp>
        <p:nvSpPr>
          <p:cNvPr id="17" name="Shape 15"/>
          <p:cNvSpPr/>
          <p:nvPr/>
        </p:nvSpPr>
        <p:spPr>
          <a:xfrm>
            <a:off x="9759434" y="4600754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20407" y="4642425"/>
            <a:ext cx="177998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24" dirty="0"/>
          </a:p>
        </p:txBody>
      </p:sp>
      <p:sp>
        <p:nvSpPr>
          <p:cNvPr id="19" name="Text 17"/>
          <p:cNvSpPr/>
          <p:nvPr/>
        </p:nvSpPr>
        <p:spPr>
          <a:xfrm>
            <a:off x="8620601" y="2037397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Gestão Multilocal</a:t>
            </a:r>
            <a:endParaRPr lang="en-US" sz="2187" dirty="0"/>
          </a:p>
        </p:txBody>
      </p:sp>
      <p:sp>
        <p:nvSpPr>
          <p:cNvPr id="20" name="Text 18"/>
          <p:cNvSpPr/>
          <p:nvPr/>
        </p:nvSpPr>
        <p:spPr>
          <a:xfrm>
            <a:off x="7648456" y="2517815"/>
            <a:ext cx="4721781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sistema deve ter a capacidade de agendar serviços em várias filiais ou locais da empresa, com centralização na visualização e gestão de todos os agendamentos.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828080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Funcionalidades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1966793"/>
            <a:ext cx="5166122" cy="2606278"/>
          </a:xfrm>
          <a:prstGeom prst="roundRect">
            <a:avLst>
              <a:gd name="adj" fmla="val 383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67783" y="2196584"/>
            <a:ext cx="3865007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Personalização e Flexibilidade</a:t>
            </a:r>
            <a:endParaRPr lang="en-US" sz="2187" dirty="0"/>
          </a:p>
        </p:txBody>
      </p:sp>
      <p:sp>
        <p:nvSpPr>
          <p:cNvPr id="7" name="Text 5"/>
          <p:cNvSpPr/>
          <p:nvPr/>
        </p:nvSpPr>
        <p:spPr>
          <a:xfrm>
            <a:off x="2267783" y="2677001"/>
            <a:ext cx="4706541" cy="166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sistema deve oferecer opções de personalização para atender às necessidades específicas de diferentes setores, unidades de negócios ou clientes, com flexibilidade para futuras adaptações e atualizações.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6285" y="1966793"/>
            <a:ext cx="5166122" cy="2606278"/>
          </a:xfrm>
          <a:prstGeom prst="roundRect">
            <a:avLst>
              <a:gd name="adj" fmla="val 383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56076" y="219658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Gestão de Recursos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7656076" y="2677001"/>
            <a:ext cx="4706541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sistema deve facilitar a alocação eficiente de recursos, como pessoal, equipamentos e materiais, de acordo com a demanda e disponibilidade.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2037993" y="4795242"/>
            <a:ext cx="5166122" cy="2606278"/>
          </a:xfrm>
          <a:prstGeom prst="roundRect">
            <a:avLst>
              <a:gd name="adj" fmla="val 383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83" y="5025033"/>
            <a:ext cx="3846433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Calendário de Disponibilidade</a:t>
            </a:r>
            <a:endParaRPr lang="en-US" sz="2187" dirty="0"/>
          </a:p>
        </p:txBody>
      </p:sp>
      <p:sp>
        <p:nvSpPr>
          <p:cNvPr id="13" name="Text 11"/>
          <p:cNvSpPr/>
          <p:nvPr/>
        </p:nvSpPr>
        <p:spPr>
          <a:xfrm>
            <a:off x="2267783" y="5505450"/>
            <a:ext cx="4706541" cy="166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sistema deve exibir em tempo real a disponibilidade de datas e horários para agendamento, com atualizações automáticas conforme os agendamentos são feitos ou alterados.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6285" y="4795242"/>
            <a:ext cx="5166122" cy="2606278"/>
          </a:xfrm>
          <a:prstGeom prst="roundRect">
            <a:avLst>
              <a:gd name="adj" fmla="val 383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6076" y="5025033"/>
            <a:ext cx="3293031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Lembretes e Notificações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7656076" y="5505450"/>
            <a:ext cx="4706541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sistema deve enviar automaticamente lembretes de agendamento por e-mail, SMS ou notificações para garantir o cumprimento dos compromissos.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076563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Funcionalidades</a:t>
            </a:r>
            <a:endParaRPr lang="en-US" sz="4374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3" y="2215277"/>
            <a:ext cx="555427" cy="555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37993" y="2992874"/>
            <a:ext cx="2388632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Gestão de Filas de Espera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2037993" y="3820478"/>
            <a:ext cx="2388632" cy="33325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sistema deve gerenciar eficientemente as filas de espera para agendamentos, com notificação aos clientes quando houver disponibilidade ou cancelamento de horários.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881" y="2215277"/>
            <a:ext cx="555427" cy="5554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9881" y="2992874"/>
            <a:ext cx="2388632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Integração de Pagamentos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4759881" y="3820478"/>
            <a:ext cx="2388632" cy="29993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sistema deve integrar-se a um sistema de pagamento seguro para permitir que os clientes paguem pelos serviços no momento do agendamento, se aplicável.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1768" y="2215277"/>
            <a:ext cx="555427" cy="55542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81768" y="2992874"/>
            <a:ext cx="2388632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Relatórios e Análises</a:t>
            </a:r>
            <a:endParaRPr lang="en-US" sz="2187" dirty="0"/>
          </a:p>
        </p:txBody>
      </p:sp>
      <p:sp>
        <p:nvSpPr>
          <p:cNvPr id="13" name="Text 8"/>
          <p:cNvSpPr/>
          <p:nvPr/>
        </p:nvSpPr>
        <p:spPr>
          <a:xfrm>
            <a:off x="7481768" y="3820478"/>
            <a:ext cx="2388632" cy="2666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sistema deve gerar relatórios detalhados sobre o desempenho, incluindo métricas como número de agendamentos, taxa de ocupação e feedback dos clientes.</a:t>
            </a:r>
            <a:endParaRPr lang="en-US" sz="17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3656" y="2215277"/>
            <a:ext cx="555427" cy="55542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03656" y="2992874"/>
            <a:ext cx="2388751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Suporte Técnico e Atendimento</a:t>
            </a:r>
            <a:endParaRPr lang="en-US" sz="2187" dirty="0"/>
          </a:p>
        </p:txBody>
      </p:sp>
      <p:sp>
        <p:nvSpPr>
          <p:cNvPr id="16" name="Text 10"/>
          <p:cNvSpPr/>
          <p:nvPr/>
        </p:nvSpPr>
        <p:spPr>
          <a:xfrm>
            <a:off x="10203656" y="3820478"/>
            <a:ext cx="2388751" cy="2332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sistema deve oferecer suporte técnico dedicado e atendimento de qualidade para resolver questões relacionadas ao agendamento.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934760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Recursos</a:t>
            </a:r>
            <a:endParaRPr lang="en-US" sz="4374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3" y="1962388"/>
            <a:ext cx="1110972" cy="17774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82221" y="2184559"/>
            <a:ext cx="3185636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Segurança e Privacidade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3482221" y="2664976"/>
            <a:ext cx="9110186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sistema deve garantir a segurança e a conformidade com regulamentações de privacidade de dados para proteger informações confidenciais.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7993" y="3739872"/>
            <a:ext cx="1110972" cy="17774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82221" y="396204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Acessibilidade Móvel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3482221" y="4442460"/>
            <a:ext cx="9110186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sistema deve disponibilizar uma interface móvel responsiva para acesso fácil a partir de dispositivos móveis.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7993" y="5517356"/>
            <a:ext cx="1110972" cy="17774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82221" y="5739527"/>
            <a:ext cx="3456861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Customização de Branding</a:t>
            </a:r>
            <a:endParaRPr lang="en-US" sz="2187" dirty="0"/>
          </a:p>
        </p:txBody>
      </p:sp>
      <p:sp>
        <p:nvSpPr>
          <p:cNvPr id="13" name="Text 8"/>
          <p:cNvSpPr/>
          <p:nvPr/>
        </p:nvSpPr>
        <p:spPr>
          <a:xfrm>
            <a:off x="3482221" y="6219944"/>
            <a:ext cx="9110186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sistema deve permitir a personalização com a identidade visual da empresa.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229320"/>
            <a:ext cx="10204847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Necessidade, Dificuldades e Demandas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2506861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16587" y="2548533"/>
            <a:ext cx="142637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24" dirty="0"/>
          </a:p>
        </p:txBody>
      </p:sp>
      <p:sp>
        <p:nvSpPr>
          <p:cNvPr id="7" name="Text 5"/>
          <p:cNvSpPr/>
          <p:nvPr/>
        </p:nvSpPr>
        <p:spPr>
          <a:xfrm>
            <a:off x="2760107" y="2506861"/>
            <a:ext cx="264795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Necessidade do Sistema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2760107" y="3334464"/>
            <a:ext cx="2647950" cy="36658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sistema de agendamento é necessário para otimizar recursos, agilizar processos, melhorar a experiência do cliente, aumentar a eficiência operacional, aprimorar a precisão e confiabilidade, e auxiliar na tomada de decisões informadas.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630228" y="2506861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93343" y="2548533"/>
            <a:ext cx="17371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24" dirty="0"/>
          </a:p>
        </p:txBody>
      </p:sp>
      <p:sp>
        <p:nvSpPr>
          <p:cNvPr id="11" name="Text 9"/>
          <p:cNvSpPr/>
          <p:nvPr/>
        </p:nvSpPr>
        <p:spPr>
          <a:xfrm>
            <a:off x="6352342" y="2506861"/>
            <a:ext cx="264795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Principais Dificuldades</a:t>
            </a:r>
            <a:endParaRPr lang="en-US" sz="2187" dirty="0"/>
          </a:p>
        </p:txBody>
      </p:sp>
      <p:sp>
        <p:nvSpPr>
          <p:cNvPr id="12" name="Text 10"/>
          <p:cNvSpPr/>
          <p:nvPr/>
        </p:nvSpPr>
        <p:spPr>
          <a:xfrm>
            <a:off x="6352342" y="3334464"/>
            <a:ext cx="2647950" cy="29993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 principais dificuldades incluem garantir a escalabilidade, integrar com outros sistemas, personalizar e manter a flexibilidade, assegurar a segurança e privacidade, e oferecer uma ótima experiência do usuário.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222462" y="2506861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83435" y="2548533"/>
            <a:ext cx="177998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24" dirty="0"/>
          </a:p>
        </p:txBody>
      </p:sp>
      <p:sp>
        <p:nvSpPr>
          <p:cNvPr id="15" name="Text 13"/>
          <p:cNvSpPr/>
          <p:nvPr/>
        </p:nvSpPr>
        <p:spPr>
          <a:xfrm>
            <a:off x="9944576" y="2506861"/>
            <a:ext cx="264795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Principais Demandas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9944576" y="3334464"/>
            <a:ext cx="2647950" cy="33325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 principais demandas envolvem a implementação de recursos de análise de dados, suporte técnico confiável, e a gestão de custos e orçamento dentro de um retorno positivo sobre o investimento.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991910"/>
            <a:ext cx="6736318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Soluções para os Desafios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349103" y="2019538"/>
            <a:ext cx="44410" cy="5218152"/>
          </a:xfrm>
          <a:prstGeom prst="roundRect">
            <a:avLst>
              <a:gd name="adj" fmla="val 225151"/>
            </a:avLst>
          </a:prstGeom>
          <a:solidFill>
            <a:srgbClr val="C7C7D0"/>
          </a:solidFill>
          <a:ln/>
        </p:spPr>
      </p:sp>
      <p:sp>
        <p:nvSpPr>
          <p:cNvPr id="6" name="Shape 4"/>
          <p:cNvSpPr/>
          <p:nvPr/>
        </p:nvSpPr>
        <p:spPr>
          <a:xfrm>
            <a:off x="2621220" y="2497157"/>
            <a:ext cx="777597" cy="44410"/>
          </a:xfrm>
          <a:prstGeom prst="roundRect">
            <a:avLst>
              <a:gd name="adj" fmla="val 225151"/>
            </a:avLst>
          </a:prstGeom>
          <a:solidFill>
            <a:srgbClr val="C7C7D0"/>
          </a:solidFill>
          <a:ln/>
        </p:spPr>
      </p:sp>
      <p:sp>
        <p:nvSpPr>
          <p:cNvPr id="7" name="Shape 5"/>
          <p:cNvSpPr/>
          <p:nvPr/>
        </p:nvSpPr>
        <p:spPr>
          <a:xfrm>
            <a:off x="2121277" y="2269450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10020" y="2269450"/>
            <a:ext cx="142637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24" dirty="0"/>
          </a:p>
        </p:txBody>
      </p:sp>
      <p:sp>
        <p:nvSpPr>
          <p:cNvPr id="9" name="Text 7"/>
          <p:cNvSpPr/>
          <p:nvPr/>
        </p:nvSpPr>
        <p:spPr>
          <a:xfrm>
            <a:off x="3593306" y="2241709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Escalabilidade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3593306" y="2722126"/>
            <a:ext cx="8999101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Garantir que o sistema possa lidar com o grande volume de agendamentos sem comprometer o desempenho ou a experiência do usuário.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2621220" y="4310598"/>
            <a:ext cx="777597" cy="44410"/>
          </a:xfrm>
          <a:prstGeom prst="roundRect">
            <a:avLst>
              <a:gd name="adj" fmla="val 225151"/>
            </a:avLst>
          </a:prstGeom>
          <a:solidFill>
            <a:srgbClr val="C7C7D0"/>
          </a:solidFill>
          <a:ln/>
        </p:spPr>
      </p:sp>
      <p:sp>
        <p:nvSpPr>
          <p:cNvPr id="12" name="Shape 10"/>
          <p:cNvSpPr/>
          <p:nvPr/>
        </p:nvSpPr>
        <p:spPr>
          <a:xfrm>
            <a:off x="2121277" y="4082891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4393" y="4104509"/>
            <a:ext cx="17371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24" dirty="0"/>
          </a:p>
        </p:txBody>
      </p:sp>
      <p:sp>
        <p:nvSpPr>
          <p:cNvPr id="14" name="Text 12"/>
          <p:cNvSpPr/>
          <p:nvPr/>
        </p:nvSpPr>
        <p:spPr>
          <a:xfrm>
            <a:off x="3593306" y="4055150"/>
            <a:ext cx="3006209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Integração de Sistemas</a:t>
            </a:r>
            <a:endParaRPr lang="en-US" sz="2187" dirty="0"/>
          </a:p>
        </p:txBody>
      </p:sp>
      <p:sp>
        <p:nvSpPr>
          <p:cNvPr id="15" name="Text 13"/>
          <p:cNvSpPr/>
          <p:nvPr/>
        </p:nvSpPr>
        <p:spPr>
          <a:xfrm>
            <a:off x="3593306" y="4535567"/>
            <a:ext cx="8999101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Integrar o sistema com outros sistemas internos para uma operação fluida em toda a organização.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2621220" y="6124039"/>
            <a:ext cx="777597" cy="44410"/>
          </a:xfrm>
          <a:prstGeom prst="roundRect">
            <a:avLst>
              <a:gd name="adj" fmla="val 225151"/>
            </a:avLst>
          </a:prstGeom>
          <a:solidFill>
            <a:srgbClr val="C7C7D0"/>
          </a:solidFill>
          <a:ln/>
        </p:spPr>
      </p:sp>
      <p:sp>
        <p:nvSpPr>
          <p:cNvPr id="17" name="Shape 15"/>
          <p:cNvSpPr/>
          <p:nvPr/>
        </p:nvSpPr>
        <p:spPr>
          <a:xfrm>
            <a:off x="2121277" y="5896332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2250" y="5938004"/>
            <a:ext cx="177998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24" dirty="0"/>
          </a:p>
        </p:txBody>
      </p:sp>
      <p:sp>
        <p:nvSpPr>
          <p:cNvPr id="19" name="Text 17"/>
          <p:cNvSpPr/>
          <p:nvPr/>
        </p:nvSpPr>
        <p:spPr>
          <a:xfrm>
            <a:off x="3593306" y="5868591"/>
            <a:ext cx="3865007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Personalização e Flexibilidade</a:t>
            </a:r>
            <a:endParaRPr lang="en-US" sz="2187" dirty="0"/>
          </a:p>
        </p:txBody>
      </p:sp>
      <p:sp>
        <p:nvSpPr>
          <p:cNvPr id="20" name="Text 18"/>
          <p:cNvSpPr/>
          <p:nvPr/>
        </p:nvSpPr>
        <p:spPr>
          <a:xfrm>
            <a:off x="3593306" y="6349008"/>
            <a:ext cx="8999101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Desenvolver um sistema adaptável às necessidades específicas de diferentes setores, permitindo futuras adaptações.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31981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616637" y="543997"/>
            <a:ext cx="5996940" cy="6181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868"/>
              </a:lnSpc>
              <a:buNone/>
            </a:pPr>
            <a:r>
              <a:rPr lang="en-US" sz="389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Soluções para os Desafios</a:t>
            </a:r>
            <a:endParaRPr lang="en-US" sz="3894" dirty="0"/>
          </a:p>
        </p:txBody>
      </p:sp>
      <p:sp>
        <p:nvSpPr>
          <p:cNvPr id="5" name="Shape 3"/>
          <p:cNvSpPr/>
          <p:nvPr/>
        </p:nvSpPr>
        <p:spPr>
          <a:xfrm>
            <a:off x="7295436" y="1557814"/>
            <a:ext cx="39529" cy="6130171"/>
          </a:xfrm>
          <a:prstGeom prst="roundRect">
            <a:avLst>
              <a:gd name="adj" fmla="val 225218"/>
            </a:avLst>
          </a:prstGeom>
          <a:solidFill>
            <a:srgbClr val="C7C7D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324" y="1983105"/>
            <a:ext cx="692348" cy="39529"/>
          </a:xfrm>
          <a:prstGeom prst="roundRect">
            <a:avLst>
              <a:gd name="adj" fmla="val 225218"/>
            </a:avLst>
          </a:prstGeom>
          <a:solidFill>
            <a:srgbClr val="C7C7D0"/>
          </a:solidFill>
          <a:ln/>
        </p:spPr>
      </p:sp>
      <p:sp>
        <p:nvSpPr>
          <p:cNvPr id="7" name="Shape 5"/>
          <p:cNvSpPr/>
          <p:nvPr/>
        </p:nvSpPr>
        <p:spPr>
          <a:xfrm>
            <a:off x="7092672" y="1780342"/>
            <a:ext cx="445056" cy="445056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5789" y="1743193"/>
            <a:ext cx="112872" cy="71177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21"/>
              </a:lnSpc>
              <a:buNone/>
            </a:pPr>
            <a:r>
              <a:rPr lang="en-US" sz="233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337" dirty="0"/>
          </a:p>
        </p:txBody>
      </p:sp>
      <p:sp>
        <p:nvSpPr>
          <p:cNvPr id="9" name="Text 7"/>
          <p:cNvSpPr/>
          <p:nvPr/>
        </p:nvSpPr>
        <p:spPr>
          <a:xfrm>
            <a:off x="3391376" y="1755577"/>
            <a:ext cx="2835831" cy="3090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r">
              <a:lnSpc>
                <a:spcPts val="2434"/>
              </a:lnSpc>
              <a:buNone/>
            </a:pPr>
            <a:r>
              <a:rPr lang="en-US" sz="194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Segurança e Privacidade</a:t>
            </a:r>
            <a:endParaRPr lang="en-US" sz="1947" dirty="0"/>
          </a:p>
        </p:txBody>
      </p:sp>
      <p:sp>
        <p:nvSpPr>
          <p:cNvPr id="10" name="Text 8"/>
          <p:cNvSpPr/>
          <p:nvPr/>
        </p:nvSpPr>
        <p:spPr>
          <a:xfrm>
            <a:off x="2616637" y="2183249"/>
            <a:ext cx="3610570" cy="11872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ts val="2337"/>
              </a:lnSpc>
              <a:buNone/>
            </a:pPr>
            <a:r>
              <a:rPr lang="en-US" sz="1558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Assegurar que o sistema seja seguro e esteja em conformidade com regulamentações de privacidade de dados.</a:t>
            </a:r>
            <a:endParaRPr lang="en-US" sz="1558" dirty="0"/>
          </a:p>
        </p:txBody>
      </p:sp>
      <p:sp>
        <p:nvSpPr>
          <p:cNvPr id="11" name="Shape 9"/>
          <p:cNvSpPr/>
          <p:nvPr/>
        </p:nvSpPr>
        <p:spPr>
          <a:xfrm>
            <a:off x="7537728" y="2972157"/>
            <a:ext cx="692348" cy="39529"/>
          </a:xfrm>
          <a:prstGeom prst="roundRect">
            <a:avLst>
              <a:gd name="adj" fmla="val 225218"/>
            </a:avLst>
          </a:prstGeom>
          <a:solidFill>
            <a:srgbClr val="C7C7D0"/>
          </a:solidFill>
          <a:ln/>
        </p:spPr>
      </p:sp>
      <p:sp>
        <p:nvSpPr>
          <p:cNvPr id="12" name="Shape 10"/>
          <p:cNvSpPr/>
          <p:nvPr/>
        </p:nvSpPr>
        <p:spPr>
          <a:xfrm>
            <a:off x="7092672" y="2769394"/>
            <a:ext cx="445056" cy="445056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37809" y="2759630"/>
            <a:ext cx="154662" cy="37088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21"/>
              </a:lnSpc>
              <a:buNone/>
            </a:pPr>
            <a:r>
              <a:rPr lang="en-US" sz="233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337" dirty="0"/>
          </a:p>
        </p:txBody>
      </p:sp>
      <p:sp>
        <p:nvSpPr>
          <p:cNvPr id="14" name="Text 12"/>
          <p:cNvSpPr/>
          <p:nvPr/>
        </p:nvSpPr>
        <p:spPr>
          <a:xfrm>
            <a:off x="8403193" y="2744629"/>
            <a:ext cx="2625804" cy="3090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34"/>
              </a:lnSpc>
              <a:buNone/>
            </a:pPr>
            <a:r>
              <a:rPr lang="en-US" sz="194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Experiência do Usuário</a:t>
            </a:r>
            <a:endParaRPr lang="en-US" sz="1947" dirty="0"/>
          </a:p>
        </p:txBody>
      </p:sp>
      <p:sp>
        <p:nvSpPr>
          <p:cNvPr id="15" name="Text 13"/>
          <p:cNvSpPr/>
          <p:nvPr/>
        </p:nvSpPr>
        <p:spPr>
          <a:xfrm>
            <a:off x="8403193" y="3172301"/>
            <a:ext cx="3610570" cy="5936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337"/>
              </a:lnSpc>
              <a:buNone/>
            </a:pPr>
            <a:r>
              <a:rPr lang="en-US" sz="1558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Criar uma interface intuitiva e consistente em diferentes dispositivos.</a:t>
            </a:r>
            <a:endParaRPr lang="en-US" sz="1558" dirty="0"/>
          </a:p>
        </p:txBody>
      </p:sp>
      <p:sp>
        <p:nvSpPr>
          <p:cNvPr id="16" name="Shape 14"/>
          <p:cNvSpPr/>
          <p:nvPr/>
        </p:nvSpPr>
        <p:spPr>
          <a:xfrm>
            <a:off x="6400324" y="4191357"/>
            <a:ext cx="692348" cy="39529"/>
          </a:xfrm>
          <a:prstGeom prst="roundRect">
            <a:avLst>
              <a:gd name="adj" fmla="val 225218"/>
            </a:avLst>
          </a:prstGeom>
          <a:solidFill>
            <a:srgbClr val="C7C7D0"/>
          </a:solidFill>
          <a:ln/>
        </p:spPr>
      </p:sp>
      <p:sp>
        <p:nvSpPr>
          <p:cNvPr id="17" name="Shape 15"/>
          <p:cNvSpPr/>
          <p:nvPr/>
        </p:nvSpPr>
        <p:spPr>
          <a:xfrm>
            <a:off x="7092672" y="3988594"/>
            <a:ext cx="445056" cy="445056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35904" y="3944225"/>
            <a:ext cx="158472" cy="37088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21"/>
              </a:lnSpc>
              <a:buNone/>
            </a:pPr>
            <a:r>
              <a:rPr lang="en-US" sz="233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337" dirty="0"/>
          </a:p>
        </p:txBody>
      </p:sp>
      <p:sp>
        <p:nvSpPr>
          <p:cNvPr id="19" name="Text 17"/>
          <p:cNvSpPr/>
          <p:nvPr/>
        </p:nvSpPr>
        <p:spPr>
          <a:xfrm>
            <a:off x="2830711" y="3963829"/>
            <a:ext cx="3396496" cy="3090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r">
              <a:lnSpc>
                <a:spcPts val="2434"/>
              </a:lnSpc>
              <a:buNone/>
            </a:pPr>
            <a:r>
              <a:rPr lang="en-US" sz="194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Análise de Dados e Relatórios</a:t>
            </a:r>
            <a:endParaRPr lang="en-US" sz="1947" dirty="0"/>
          </a:p>
        </p:txBody>
      </p:sp>
      <p:sp>
        <p:nvSpPr>
          <p:cNvPr id="20" name="Text 18"/>
          <p:cNvSpPr/>
          <p:nvPr/>
        </p:nvSpPr>
        <p:spPr>
          <a:xfrm>
            <a:off x="2616637" y="4391501"/>
            <a:ext cx="3610570" cy="8904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ts val="2337"/>
              </a:lnSpc>
              <a:buNone/>
            </a:pPr>
            <a:r>
              <a:rPr lang="en-US" sz="1558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Implementar recursos para análise de dados que auxiliem na tomada de decisões informadas.</a:t>
            </a:r>
            <a:endParaRPr lang="en-US" sz="1558" dirty="0"/>
          </a:p>
        </p:txBody>
      </p:sp>
      <p:sp>
        <p:nvSpPr>
          <p:cNvPr id="21" name="Shape 19"/>
          <p:cNvSpPr/>
          <p:nvPr/>
        </p:nvSpPr>
        <p:spPr>
          <a:xfrm>
            <a:off x="7537728" y="5147072"/>
            <a:ext cx="692348" cy="39529"/>
          </a:xfrm>
          <a:prstGeom prst="roundRect">
            <a:avLst>
              <a:gd name="adj" fmla="val 225218"/>
            </a:avLst>
          </a:prstGeom>
          <a:solidFill>
            <a:srgbClr val="C7C7D0"/>
          </a:solidFill>
          <a:ln/>
        </p:spPr>
      </p:sp>
      <p:sp>
        <p:nvSpPr>
          <p:cNvPr id="22" name="Shape 20"/>
          <p:cNvSpPr/>
          <p:nvPr/>
        </p:nvSpPr>
        <p:spPr>
          <a:xfrm>
            <a:off x="7092672" y="4944308"/>
            <a:ext cx="445056" cy="445056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34118" y="4907160"/>
            <a:ext cx="162044" cy="37088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21"/>
              </a:lnSpc>
              <a:buNone/>
            </a:pPr>
            <a:r>
              <a:rPr lang="en-US" sz="233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337" dirty="0"/>
          </a:p>
        </p:txBody>
      </p:sp>
      <p:sp>
        <p:nvSpPr>
          <p:cNvPr id="24" name="Text 22"/>
          <p:cNvSpPr/>
          <p:nvPr/>
        </p:nvSpPr>
        <p:spPr>
          <a:xfrm>
            <a:off x="8403193" y="4919543"/>
            <a:ext cx="3593663" cy="3090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34"/>
              </a:lnSpc>
              <a:buNone/>
            </a:pPr>
            <a:r>
              <a:rPr lang="en-US" sz="194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Suporte Técnico e Atendimento</a:t>
            </a:r>
            <a:endParaRPr lang="en-US" sz="1947" dirty="0"/>
          </a:p>
        </p:txBody>
      </p:sp>
      <p:sp>
        <p:nvSpPr>
          <p:cNvPr id="25" name="Text 23"/>
          <p:cNvSpPr/>
          <p:nvPr/>
        </p:nvSpPr>
        <p:spPr>
          <a:xfrm>
            <a:off x="8403193" y="5347216"/>
            <a:ext cx="3610570" cy="8904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337"/>
              </a:lnSpc>
              <a:buNone/>
            </a:pPr>
            <a:r>
              <a:rPr lang="en-US" sz="1558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Oferecer suporte confiável para garantir uma experiência satisfatória aos usuários.</a:t>
            </a:r>
            <a:endParaRPr lang="en-US" sz="1558" dirty="0"/>
          </a:p>
        </p:txBody>
      </p:sp>
      <p:sp>
        <p:nvSpPr>
          <p:cNvPr id="26" name="Shape 24"/>
          <p:cNvSpPr/>
          <p:nvPr/>
        </p:nvSpPr>
        <p:spPr>
          <a:xfrm>
            <a:off x="6400324" y="6102787"/>
            <a:ext cx="692348" cy="39529"/>
          </a:xfrm>
          <a:prstGeom prst="roundRect">
            <a:avLst>
              <a:gd name="adj" fmla="val 225218"/>
            </a:avLst>
          </a:prstGeom>
          <a:solidFill>
            <a:srgbClr val="C7C7D0"/>
          </a:solidFill>
          <a:ln/>
        </p:spPr>
      </p:sp>
      <p:sp>
        <p:nvSpPr>
          <p:cNvPr id="27" name="Shape 25"/>
          <p:cNvSpPr/>
          <p:nvPr/>
        </p:nvSpPr>
        <p:spPr>
          <a:xfrm>
            <a:off x="7092672" y="5900023"/>
            <a:ext cx="445056" cy="445056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4238" y="5866804"/>
            <a:ext cx="161806" cy="37088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21"/>
              </a:lnSpc>
              <a:buNone/>
            </a:pPr>
            <a:r>
              <a:rPr lang="en-US" sz="233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337" dirty="0"/>
          </a:p>
        </p:txBody>
      </p:sp>
      <p:sp>
        <p:nvSpPr>
          <p:cNvPr id="29" name="Text 27"/>
          <p:cNvSpPr/>
          <p:nvPr/>
        </p:nvSpPr>
        <p:spPr>
          <a:xfrm>
            <a:off x="3754279" y="5875258"/>
            <a:ext cx="2472928" cy="3090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r">
              <a:lnSpc>
                <a:spcPts val="2434"/>
              </a:lnSpc>
              <a:buNone/>
            </a:pPr>
            <a:r>
              <a:rPr lang="en-US" sz="194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Custos e Orçamento</a:t>
            </a:r>
            <a:endParaRPr lang="en-US" sz="1947" dirty="0"/>
          </a:p>
        </p:txBody>
      </p:sp>
      <p:sp>
        <p:nvSpPr>
          <p:cNvPr id="30" name="Text 28"/>
          <p:cNvSpPr/>
          <p:nvPr/>
        </p:nvSpPr>
        <p:spPr>
          <a:xfrm>
            <a:off x="2616637" y="6302931"/>
            <a:ext cx="3610570" cy="11872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ts val="2337"/>
              </a:lnSpc>
              <a:buNone/>
            </a:pPr>
            <a:r>
              <a:rPr lang="en-US" sz="1558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Gerenciar os custos de desenvolvimento e manutenção dentro do orçamento disponível, buscando um retorno positivo sobre o investimento.</a:t>
            </a:r>
            <a:endParaRPr lang="en-US" sz="155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883</Words>
  <Application>Microsoft Office PowerPoint</Application>
  <PresentationFormat>Personalizar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Raleway</vt:lpstr>
      <vt:lpstr>Roboto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Gabriel Pires</cp:lastModifiedBy>
  <cp:revision>2</cp:revision>
  <dcterms:created xsi:type="dcterms:W3CDTF">2024-06-07T18:55:40Z</dcterms:created>
  <dcterms:modified xsi:type="dcterms:W3CDTF">2024-06-07T18:58:07Z</dcterms:modified>
</cp:coreProperties>
</file>